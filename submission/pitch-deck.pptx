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xtWlvo450C/sh0I3Qg0YmAxTI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F18472-2E5F-40CA-9BD1-C475E8626AB2}">
  <a:tblStyle styleId="{C6F18472-2E5F-40CA-9BD1-C475E8626A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ridstorage.riddleandcod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744406"/>
            <a:ext cx="1036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Grid-Serving Storage</a:t>
            </a:r>
            <a:endParaRPr b="1" i="0" sz="4400" u="none" cap="none" strike="noStrike">
              <a:solidFill>
                <a:srgbClr val="2D34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1" sz="4400">
              <a:solidFill>
                <a:srgbClr val="2D34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Aggregate &amp; Dispatch</a:t>
            </a:r>
            <a:endParaRPr b="1" sz="4400">
              <a:solidFill>
                <a:srgbClr val="2D3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931920"/>
            <a:ext cx="10362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Interoperability Profile for Distributed Flexibility</a:t>
            </a:r>
            <a:endParaRPr b="0" i="0" sz="2200" u="none" cap="none" strike="noStrike">
              <a:solidFill>
                <a:srgbClr val="636E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36E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114800" y="4663440"/>
            <a:ext cx="3962095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5029200"/>
            <a:ext cx="1036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5486400"/>
            <a:ext cx="1036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Riddle&amp;Code GmbH — Vienna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5852160"/>
            <a:ext cx="1036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Jürgen Eckel · Thomas Fürstner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grid has a coordination problem.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Renewable build-out and electrification loads are stressing distribution grids. Grid expansion takes years. Curtailment is the only fast lever the DSO has.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Meanwhile, distributed battery storage is being deployed at scale — residential through commercial. It sits idle from the grid's perspective.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capacity exists. The interface does not.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Thousands of storage systems. Dozens of HEMS manufacturers. No standardized way for an aggregator to coordinate them.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What we built.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An interoperability profile for the use case "Grid-Serving Storage" — designed using the IES methodology, built on the Austrian system architecture for flexible assets (Smart Grids Austria / AIT).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Not a product pitch. Not a business plan. A rough interoperability profile — concrete enough to guide implementation, reusable across DSOs, device manufacturers, and aggregators.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Seven documents. One working demo.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731520" y="45720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Connect to markets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731520" y="155448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7" name="Google Shape;127;p8"/>
          <p:cNvGraphicFramePr/>
          <p:nvPr/>
        </p:nvGraphicFramePr>
        <p:xfrm>
          <a:off x="731520" y="2103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{C6F18472-2E5F-40CA-9BD1-C475E8626AB2}</a:tableStyleId>
              </a:tblPr>
              <a:tblGrid>
                <a:gridCol w="4114800"/>
                <a:gridCol w="2743200"/>
                <a:gridCol w="36576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Market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Response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Fit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mFRR (tertiary balancing)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12.5 min FAT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Primary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Congestion management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Minutes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Primary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Non-frequency ancillary services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Minutes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Primary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Intraday / day-ahead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Minutes to hours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Reachable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Local flex markets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Variable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Reachable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Dynamic tariff response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Hours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Reachable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8" name="Google Shape;128;p8"/>
          <p:cNvSpPr txBox="1"/>
          <p:nvPr/>
        </p:nvSpPr>
        <p:spPr>
          <a:xfrm>
            <a:off x="731520" y="53035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Out of scope. Tier 1 (FCR, aFRR) requires SCADA/PLC hardware with sub-second control loops. Different architecture. Different stack.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architecture.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Two interfaces. Two protocols. One clean boundary.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097280" y="2194560"/>
            <a:ext cx="7315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DSO / Market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Technical Aggregator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 == MQTT v5 ==           fleet coordination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.------+------.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|      |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Backend Backend Backend    one per HEMS manufacturer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|      |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== OpenADR ==              device control (AT standard)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|      |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Device  Device  Device     HEMS (VEN)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  |      |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Verdana"/>
                <a:ea typeface="Verdana"/>
                <a:cs typeface="Verdana"/>
                <a:sym typeface="Verdana"/>
              </a:rPr>
              <a:t>   Battery Battery Battery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731520" y="53035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MQTT v5 upstream: pub/sub for multi-vendor backend coordination.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OpenADR 2.0b / 3.1 downstream: the Austrian standard for flexible assets.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HEMS Backend bridges between them.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How it works.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Four phases. Continuous loop.</a:t>
            </a:r>
            <a:endParaRPr/>
          </a:p>
        </p:txBody>
      </p:sp>
      <p:graphicFrame>
        <p:nvGraphicFramePr>
          <p:cNvPr id="155" name="Google Shape;155;p5"/>
          <p:cNvGraphicFramePr/>
          <p:nvPr/>
        </p:nvGraphicFramePr>
        <p:xfrm>
          <a:off x="731520" y="2194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{C6F18472-2E5F-40CA-9BD1-C475E8626AB2}</a:tableStyleId>
              </a:tblPr>
              <a:tblGrid>
                <a:gridCol w="1828800"/>
                <a:gridCol w="1828800"/>
                <a:gridCol w="6858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Phase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Direction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What happens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Observe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Bottom-up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Backends publish state snapshots and flexibility offers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Plan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Internal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Aggregator runs portfolio MILP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Dispatch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Top-down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Aggregator sends goals. Backends distribute to devices.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Settle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Bottom-up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Delivery reports. Reliability scoring.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6" name="Google Shape;156;p5"/>
          <p:cNvSpPr txBox="1"/>
          <p:nvPr/>
        </p:nvSpPr>
        <p:spPr>
          <a:xfrm>
            <a:off x="731520" y="45720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aggregator observes continuously — not just when a grid event occurs. This enables proactive market positioning: mFRR, intraday, congestion management, flex markets.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One dispatch cycle. Many markets. Only the trigger differs.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optimization.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Two-level hierarchical MILP. Real mixed-integer linear programming.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731520" y="219456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Level 1 — Aggregator MILP.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Treats each backend as an opaque flexibility envelope. Allocates the grid obligation across backends. Penalizes unreliable backends. Respects ramp rates, duration limits, rebound.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Level 2 — Backend MILP.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Distributes the received goal across individual devices. Respects per-device SoC, battery limits, prosumer preferences. Translates to OpenADR events.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731520" y="43891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Why two levels.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731520" y="48463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Privacy. </a:t>
            </a:r>
            <a:r>
              <a:rPr b="0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aggregator never sees per-device data.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Scalability. </a:t>
            </a:r>
            <a:r>
              <a:rPr b="0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Solving for N backends, not N × M devices.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Autonomy. </a:t>
            </a:r>
            <a:r>
              <a:rPr b="0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Each manufacturer optimizes their own devices.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Prosumer sovereignty.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device has the last word. Always.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aggregator sends a soft flex-request with bounds. Each HEMS device evaluates locally — SoC, hardware limits, prosumer preferences — and opts in or opts out. OpenADR native.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Every failure mode defaults to normal prosumer operation. No persistent standing orders. The aggregator must actively request and actively release.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2286000" y="4754880"/>
            <a:ext cx="7619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The HEMS device is the trust boundary.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demo.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731520" y="1554480"/>
            <a:ext cx="105156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Live simulation of the full Observe → Plan → Dispatch → Settle cycle.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Three simulated HEMS backends: kern-01 (47 residential), solar-02 (12 commercial), flex-03 (25 mixed).</a:t>
            </a:r>
            <a:endParaRPr b="0" i="0" sz="1600" u="none" cap="none" strike="noStrike">
              <a:solidFill>
                <a:srgbClr val="2D34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https://gridstorage.riddleandcode.com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D3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9"/>
          <p:cNvGraphicFramePr/>
          <p:nvPr/>
        </p:nvGraphicFramePr>
        <p:xfrm>
          <a:off x="731520" y="292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{C6F18472-2E5F-40CA-9BD1-C475E8626AB2}</a:tableStyleId>
              </a:tblPr>
              <a:tblGrid>
                <a:gridCol w="4572000"/>
                <a:gridCol w="59436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D3436"/>
                          </a:solidFill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MQTT broker + message flow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Real — live Mosquitto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Aggregator MILP (portfolio)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Real — PuLP + HiGHS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Backend MILP (per-device)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Real — PuLP + HiGHS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Browser dashboard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Real — Chart.js + MQTT websockets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Device state, OpenADR exchanges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D3436"/>
                          </a:solidFill>
                        </a:rPr>
                        <a:t>Simulated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8" name="Google Shape;198;p9"/>
          <p:cNvSpPr txBox="1"/>
          <p:nvPr/>
        </p:nvSpPr>
        <p:spPr>
          <a:xfrm>
            <a:off x="731520" y="53035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docker compose up --build  then open  dashboard.html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Or:  python3 run_demo.py  — 50-second terminal walkthrough.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What we delivered.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Interoperability profile — 7 documents, IES methodology: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731520" y="21031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Use case — business context, triggers, serviceable markets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Actors &amp; roles — aggregator-centric Austrian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Process flow — four-phase loop, sequence diagrams, edge cases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Information model — message types, OpenADR 2.0b + 3.1 mappings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Communication — MQTT topic structure, QoS, security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Design decisions — 15 decisions with rationale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b="0" i="0" lang="en-US" sz="14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AT vs. DE comparison — Austrian model vs. German SMGW model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731520" y="475488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Aggregator interface spec — TypeScript types, MILP formulation, aggregation rules.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Working demo — full dispatch cycle with real optimization.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OpenADR 3.1 reference VEN — validated against a real VTN.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Five things to remember.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731520" y="1234440"/>
            <a:ext cx="3200400" cy="38100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1. The interface is the product.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Standardize the boundary between aggregator and HEMS backends. The rest follows.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2. Two protocols, one clean boundary.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MQTT for fleet coordination. OpenADR for device control. The HEMS Backend bridges them.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3. Two-level MILP preserves privacy at scale.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The aggregator optimizes across backends without seeing individual devices.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4. Prosumer sovereignty is non-negotiable.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Soft signals. Local device autonomy. Fail-safe to normal operation.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5. One dispatch cycle, many markets.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mFRR, congestion, intraday, flex markets — same message flow, different trigger.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/>
          <p:nvPr/>
        </p:nvSpPr>
        <p:spPr>
          <a:xfrm>
            <a:off x="0" y="0"/>
            <a:ext cx="2743200" cy="109728"/>
          </a:xfrm>
          <a:prstGeom prst="rect">
            <a:avLst/>
          </a:prstGeom>
          <a:solidFill>
            <a:srgbClr val="C875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DFE6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KERN by Riddle&amp;Code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4572000" y="6400800"/>
            <a:ext cx="3047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TEB AI Hackathon 2026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8716975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pic>
        <p:nvPicPr>
          <p:cNvPr descr="kern-logo.png" id="234" name="Google Shape;2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0" y="1371600"/>
            <a:ext cx="3383280" cy="98422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Riddle&amp;Code GmbH — Vienna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2286000" y="3657600"/>
            <a:ext cx="7619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Jürgen Eckel  </a:t>
            </a:r>
            <a:r>
              <a:rPr lang="en-US" sz="14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CEO — Profile design, demo, aggregator architecture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2286000" y="4114800"/>
            <a:ext cx="7619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Thomas Fürstner  </a:t>
            </a:r>
            <a:r>
              <a:rPr lang="en-US" sz="14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CTO — OpenADR 3.1 VEN reference implementation</a:t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github.com/RiddleAndCode/grid-serving-storage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juergen@riddleandcode.com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87533"/>
                </a:solidFill>
                <a:latin typeface="Calibri"/>
                <a:ea typeface="Calibri"/>
                <a:cs typeface="Calibri"/>
                <a:sym typeface="Calibri"/>
              </a:rPr>
              <a:t>Infrastructure for distributed energy.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
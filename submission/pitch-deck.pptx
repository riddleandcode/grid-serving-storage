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87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e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097280"/>
            <a:ext cx="3383280" cy="98422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01752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D3436"/>
                </a:solidFill>
              </a:defRPr>
            </a:pPr>
            <a:r>
              <a:t>Grid-Serving Storage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103628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636E72"/>
                </a:solidFill>
              </a:defRPr>
            </a:pPr>
            <a:r>
              <a:t>Interoperability Profile for Distributed Flexibility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4663440"/>
            <a:ext cx="3962095" cy="38100"/>
          </a:xfrm>
          <a:prstGeom prst="rect">
            <a:avLst/>
          </a:prstGeom>
          <a:solidFill>
            <a:srgbClr val="C87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636E72"/>
                </a:solidFill>
              </a:defRPr>
            </a:pPr>
            <a:r>
              <a:t>TEB AI Hackathon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4864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636E72"/>
                </a:solidFill>
              </a:defRPr>
            </a:pPr>
            <a:r>
              <a:t>Riddle&amp;Code GmbH — Vienna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636E72"/>
                </a:solidFill>
              </a:defRPr>
            </a:pPr>
            <a:r>
              <a:t>Jürgen Eckel · Thomas Fürstner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0" cy="109728"/>
          </a:xfrm>
          <a:prstGeom prst="rect">
            <a:avLst/>
          </a:prstGeom>
          <a:solidFill>
            <a:srgbClr val="C87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DFE6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36E72"/>
                </a:solidFill>
              </a:defRPr>
            </a:pPr>
            <a:r>
              <a:t>KERN by Riddle&amp;Code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640080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36E72"/>
                </a:solidFill>
              </a:defRPr>
            </a:pPr>
            <a:r>
              <a:t>TEB AI Hackathon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16975" y="64008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36E72"/>
                </a:solidFill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D3436"/>
                </a:solidFill>
              </a:defRPr>
            </a:pPr>
            <a:r>
              <a:t>The grid has a coordination problem.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234440"/>
            <a:ext cx="3200400" cy="38100"/>
          </a:xfrm>
          <a:prstGeom prst="rect">
            <a:avLst/>
          </a:prstGeom>
          <a:solidFill>
            <a:srgbClr val="C87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544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D3436"/>
                </a:solidFill>
              </a:defRPr>
            </a:pPr>
            <a:r>
              <a:t>Renewable build-out and electrification loads are stressing distribution grids. Grid expansion takes years. Curtailment is the only fast lever the DSO has.</a:t>
            </a:r>
          </a:p>
          <a:p>
            <a:pPr>
              <a:spcAft>
                <a:spcPts val="800"/>
              </a:spcAft>
              <a:defRPr sz="1700" b="0">
                <a:solidFill>
                  <a:srgbClr val="2D3436"/>
                </a:solidFill>
              </a:defRPr>
            </a:pPr>
            <a:r>
              <a:t>Meanwhile, distributed battery storage is being deployed at scale — residential through commercial. It sits idle from the grid's perspective.</a:t>
            </a:r>
          </a:p>
          <a:p>
            <a:pPr>
              <a:spcAft>
                <a:spcPts val="800"/>
              </a:spcAft>
              <a:defRPr sz="1700" b="1">
                <a:solidFill>
                  <a:srgbClr val="2D3436"/>
                </a:solidFill>
              </a:defRPr>
            </a:pPr>
            <a:r>
              <a:t>The capacity exists. The interface does not.</a:t>
            </a:r>
          </a:p>
          <a:p>
            <a:pPr>
              <a:spcAft>
                <a:spcPts val="800"/>
              </a:spcAft>
              <a:defRPr sz="1700" b="0">
                <a:solidFill>
                  <a:srgbClr val="2D3436"/>
                </a:solidFill>
              </a:defRPr>
            </a:pPr>
            <a:r>
              <a:t>Thousands of storage systems. Dozens of HEMS manufacturers. No standardized way for an aggregator to coordinate them.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0" cy="109728"/>
          </a:xfrm>
          <a:prstGeom prst="rect">
            <a:avLst/>
          </a:prstGeom>
          <a:solidFill>
            <a:srgbClr val="C87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DFE6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36E72"/>
                </a:solidFill>
              </a:defRPr>
            </a:pPr>
            <a:r>
              <a:t>KERN by Riddle&amp;Code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640080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36E72"/>
                </a:solidFill>
              </a:defRPr>
            </a:pPr>
            <a:r>
              <a:t>TEB AI Hackathon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16975" y="64008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36E72"/>
                </a:solidFill>
              </a:defRPr>
            </a:pPr>
            <a: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D3436"/>
                </a:solidFill>
              </a:defRPr>
            </a:pPr>
            <a:r>
              <a:t>What we built.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234440"/>
            <a:ext cx="3200400" cy="38100"/>
          </a:xfrm>
          <a:prstGeom prst="rect">
            <a:avLst/>
          </a:prstGeom>
          <a:solidFill>
            <a:srgbClr val="C87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544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D3436"/>
                </a:solidFill>
              </a:defRPr>
            </a:pPr>
            <a:r>
              <a:t>An interoperability profile for the use case "Grid-Serving Storage" — designed using the IES methodology, built on the Austrian system architecture for flexible assets (Smart Grids Austria / AIT).</a:t>
            </a:r>
          </a:p>
          <a:p>
            <a:pPr>
              <a:spcAft>
                <a:spcPts val="800"/>
              </a:spcAft>
              <a:defRPr sz="1700" b="0">
                <a:solidFill>
                  <a:srgbClr val="2D3436"/>
                </a:solidFill>
              </a:defRPr>
            </a:pPr>
            <a:r>
              <a:t>Not a product pitch. Not a business plan. A rough interoperability profile — concrete enough to guide implementation, reusable across DSOs, device manufacturers, and aggregators.</a:t>
            </a:r>
          </a:p>
          <a:p>
            <a:pPr>
              <a:spcAft>
                <a:spcPts val="800"/>
              </a:spcAft>
              <a:defRPr sz="1700" b="1">
                <a:solidFill>
                  <a:srgbClr val="2D3436"/>
                </a:solidFill>
              </a:defRPr>
            </a:pPr>
            <a:r>
              <a:t>Seven documents. One working demo.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0" cy="109728"/>
          </a:xfrm>
          <a:prstGeom prst="rect">
            <a:avLst/>
          </a:prstGeom>
          <a:solidFill>
            <a:srgbClr val="C87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DFE6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36E72"/>
                </a:solidFill>
              </a:defRPr>
            </a:pPr>
            <a:r>
              <a:t>KERN by Riddle&amp;Code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640080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36E72"/>
                </a:solidFill>
              </a:defRPr>
            </a:pPr>
            <a:r>
              <a:t>TEB AI Hackathon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16975" y="64008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36E72"/>
                </a:solidFill>
              </a:defRPr>
            </a:pPr>
            <a: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D3436"/>
                </a:solidFill>
              </a:defRPr>
            </a:pPr>
            <a:r>
              <a:t>The architecture.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234440"/>
            <a:ext cx="3200400" cy="38100"/>
          </a:xfrm>
          <a:prstGeom prst="rect">
            <a:avLst/>
          </a:prstGeom>
          <a:solidFill>
            <a:srgbClr val="C87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544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D3436"/>
                </a:solidFill>
              </a:defRPr>
            </a:pPr>
            <a:r>
              <a:t>Two interfaces. Two protocols. One clean boundary.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94560"/>
            <a:ext cx="73152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2D3436"/>
                </a:solidFill>
                <a:latin typeface="DejaVu Sans Mono"/>
              </a:defRPr>
            </a:pPr>
            <a:r>
              <a:t>DSO / Market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2D3436"/>
                </a:solidFill>
                <a:latin typeface="DejaVu Sans Mono"/>
              </a:defRPr>
            </a:pPr>
            <a:r>
              <a:t>            |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2D3436"/>
                </a:solidFill>
                <a:latin typeface="DejaVu Sans Mono"/>
              </a:defRPr>
            </a:pPr>
            <a:r>
              <a:t>    Technical Aggregator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2D3436"/>
                </a:solidFill>
                <a:latin typeface="DejaVu Sans Mono"/>
              </a:defRPr>
            </a:pPr>
            <a:r>
              <a:t>            |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2D3436"/>
                </a:solidFill>
                <a:latin typeface="DejaVu Sans Mono"/>
              </a:defRPr>
            </a:pPr>
            <a:r>
              <a:t>      == MQTT v5 ==           fleet coordination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2D3436"/>
                </a:solidFill>
                <a:latin typeface="DejaVu Sans Mono"/>
              </a:defRPr>
            </a:pPr>
            <a:r>
              <a:t>            |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2D3436"/>
                </a:solidFill>
                <a:latin typeface="DejaVu Sans Mono"/>
              </a:defRPr>
            </a:pPr>
            <a:r>
              <a:t>     .------+------.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2D3436"/>
                </a:solidFill>
                <a:latin typeface="DejaVu Sans Mono"/>
              </a:defRPr>
            </a:pPr>
            <a:r>
              <a:t>     |      |      |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2D3436"/>
                </a:solidFill>
                <a:latin typeface="DejaVu Sans Mono"/>
              </a:defRPr>
            </a:pPr>
            <a:r>
              <a:t>   Backend Backend Backend    one per HEMS manufacturer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2D3436"/>
                </a:solidFill>
                <a:latin typeface="DejaVu Sans Mono"/>
              </a:defRPr>
            </a:pPr>
            <a:r>
              <a:t>     |      |      |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2D3436"/>
                </a:solidFill>
                <a:latin typeface="DejaVu Sans Mono"/>
              </a:defRPr>
            </a:pPr>
            <a:r>
              <a:t>   == OpenADR ==              device control (AT standard)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2D3436"/>
                </a:solidFill>
                <a:latin typeface="DejaVu Sans Mono"/>
              </a:defRPr>
            </a:pPr>
            <a:r>
              <a:t>     |      |      |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2D3436"/>
                </a:solidFill>
                <a:latin typeface="DejaVu Sans Mono"/>
              </a:defRPr>
            </a:pPr>
            <a:r>
              <a:t>   Device  Device  Device     HEMS (VEN)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2D3436"/>
                </a:solidFill>
                <a:latin typeface="DejaVu Sans Mono"/>
              </a:defRPr>
            </a:pPr>
            <a:r>
              <a:t>     |      |      |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2D3436"/>
                </a:solidFill>
                <a:latin typeface="DejaVu Sans Mono"/>
              </a:defRPr>
            </a:pPr>
            <a:r>
              <a:t>   Battery Battery Battery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3035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D3436"/>
                </a:solidFill>
              </a:defRPr>
            </a:pPr>
            <a:r>
              <a:t>MQTT v5 upstream: pub/sub for multi-vendor backend coordination.</a:t>
            </a:r>
          </a:p>
          <a:p>
            <a:pPr>
              <a:spcAft>
                <a:spcPts val="800"/>
              </a:spcAft>
              <a:defRPr sz="1500" b="1">
                <a:solidFill>
                  <a:srgbClr val="2D3436"/>
                </a:solidFill>
              </a:defRPr>
            </a:pPr>
            <a:r>
              <a:t>OpenADR 2.0b / 3.1 downstream: the Austrian standard for flexible assets.</a:t>
            </a:r>
          </a:p>
          <a:p>
            <a:pPr>
              <a:spcAft>
                <a:spcPts val="800"/>
              </a:spcAft>
              <a:defRPr sz="1500" b="0">
                <a:solidFill>
                  <a:srgbClr val="2D3436"/>
                </a:solidFill>
              </a:defRPr>
            </a:pPr>
            <a:r>
              <a:t>The HEMS Backend bridges between them.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0" cy="109728"/>
          </a:xfrm>
          <a:prstGeom prst="rect">
            <a:avLst/>
          </a:prstGeom>
          <a:solidFill>
            <a:srgbClr val="C87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DFE6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36E72"/>
                </a:solidFill>
              </a:defRPr>
            </a:pPr>
            <a:r>
              <a:t>KERN by Riddle&amp;Code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640080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36E72"/>
                </a:solidFill>
              </a:defRPr>
            </a:pPr>
            <a:r>
              <a:t>TEB AI Hackathon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16975" y="64008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36E72"/>
                </a:solidFill>
              </a:defRPr>
            </a:pPr>
            <a: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D3436"/>
                </a:solidFill>
              </a:defRPr>
            </a:pPr>
            <a:r>
              <a:t>How it works.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234440"/>
            <a:ext cx="3200400" cy="38100"/>
          </a:xfrm>
          <a:prstGeom prst="rect">
            <a:avLst/>
          </a:prstGeom>
          <a:solidFill>
            <a:srgbClr val="C87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544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D3436"/>
                </a:solidFill>
              </a:defRPr>
            </a:pPr>
            <a:r>
              <a:t>Four phases. Continuous loop.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31520" y="2194560"/>
          <a:ext cx="105156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6858000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D3436"/>
                          </a:solidFill>
                        </a:defRPr>
                      </a:pPr>
                      <a:r>
                        <a:t>Phase</a:t>
                      </a:r>
                    </a:p>
                  </a:txBody>
                  <a:tcPr>
                    <a:solidFill>
                      <a:srgbClr val="F5F5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D3436"/>
                          </a:solidFill>
                        </a:defRPr>
                      </a:pPr>
                      <a:r>
                        <a:t>Direction</a:t>
                      </a:r>
                    </a:p>
                  </a:txBody>
                  <a:tcPr>
                    <a:solidFill>
                      <a:srgbClr val="F5F5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D3436"/>
                          </a:solidFill>
                        </a:defRPr>
                      </a:pPr>
                      <a:r>
                        <a:t>What happens</a:t>
                      </a:r>
                    </a:p>
                  </a:txBody>
                  <a:tcPr>
                    <a:solidFill>
                      <a:srgbClr val="F5F5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3436"/>
                          </a:solidFill>
                        </a:defRPr>
                      </a:pPr>
                      <a:r>
                        <a:t>Observe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3436"/>
                          </a:solidFill>
                        </a:defRPr>
                      </a:pPr>
                      <a:r>
                        <a:t>Bottom-up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3436"/>
                          </a:solidFill>
                        </a:defRPr>
                      </a:pPr>
                      <a:r>
                        <a:t>Backends publish state snapshots and flexibility offers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3436"/>
                          </a:solidFill>
                        </a:defRPr>
                      </a:pPr>
                      <a:r>
                        <a:t>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3436"/>
                          </a:solidFill>
                        </a:defRPr>
                      </a:pPr>
                      <a:r>
                        <a:t>Internal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3436"/>
                          </a:solidFill>
                        </a:defRPr>
                      </a:pPr>
                      <a:r>
                        <a:t>Aggregator runs portfolio MILP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3436"/>
                          </a:solidFill>
                        </a:defRPr>
                      </a:pPr>
                      <a:r>
                        <a:t>Dispatch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3436"/>
                          </a:solidFill>
                        </a:defRPr>
                      </a:pPr>
                      <a:r>
                        <a:t>Top-down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3436"/>
                          </a:solidFill>
                        </a:defRPr>
                      </a:pPr>
                      <a:r>
                        <a:t>Aggregator sends goals. Backends distribute to devices.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3436"/>
                          </a:solidFill>
                        </a:defRPr>
                      </a:pPr>
                      <a:r>
                        <a:t>Settle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3436"/>
                          </a:solidFill>
                        </a:defRPr>
                      </a:pPr>
                      <a:r>
                        <a:t>Bottom-up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3436"/>
                          </a:solidFill>
                        </a:defRPr>
                      </a:pPr>
                      <a:r>
                        <a:t>Delivery reports. Reliability scoring.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31520" y="45720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2D3436"/>
                </a:solidFill>
              </a:defRPr>
            </a:pPr>
            <a:r>
              <a:t>The aggregator observes continuously — not just when a grid event occurs. This enables proactive market positioning: mFRR, intraday, congestion management, flex markets.</a:t>
            </a:r>
          </a:p>
          <a:p>
            <a:pPr>
              <a:spcAft>
                <a:spcPts val="800"/>
              </a:spcAft>
              <a:defRPr sz="1600" b="1">
                <a:solidFill>
                  <a:srgbClr val="2D3436"/>
                </a:solidFill>
              </a:defRPr>
            </a:pPr>
            <a:r>
              <a:t>One dispatch cycle. Many markets. Only the trigger differs.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0" cy="109728"/>
          </a:xfrm>
          <a:prstGeom prst="rect">
            <a:avLst/>
          </a:prstGeom>
          <a:solidFill>
            <a:srgbClr val="C87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DFE6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36E72"/>
                </a:solidFill>
              </a:defRPr>
            </a:pPr>
            <a:r>
              <a:t>KERN by Riddle&amp;Code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640080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36E72"/>
                </a:solidFill>
              </a:defRPr>
            </a:pPr>
            <a:r>
              <a:t>TEB AI Hackathon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16975" y="64008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36E72"/>
                </a:solidFill>
              </a:defRPr>
            </a:pPr>
            <a: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D3436"/>
                </a:solidFill>
              </a:defRPr>
            </a:pPr>
            <a:r>
              <a:t>The optimization.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234440"/>
            <a:ext cx="3200400" cy="38100"/>
          </a:xfrm>
          <a:prstGeom prst="rect">
            <a:avLst/>
          </a:prstGeom>
          <a:solidFill>
            <a:srgbClr val="C87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544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D3436"/>
                </a:solidFill>
              </a:defRPr>
            </a:pPr>
            <a:r>
              <a:t>Two-level hierarchical MILP. Real mixed-integer linear programming.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945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D3436"/>
                </a:solidFill>
              </a:defRPr>
            </a:pPr>
            <a:r>
              <a:t>Level 1 — Aggregator MILP.</a:t>
            </a:r>
          </a:p>
          <a:p>
            <a:pPr>
              <a:spcAft>
                <a:spcPts val="800"/>
              </a:spcAft>
              <a:defRPr sz="1500" b="0">
                <a:solidFill>
                  <a:srgbClr val="2D3436"/>
                </a:solidFill>
              </a:defRPr>
            </a:pPr>
            <a:r>
              <a:t>Treats each backend as an opaque flexibility envelope. Allocates the grid obligation across backends. Penalizes unreliable backends. Respects ramp rates, duration limits, rebound.</a:t>
            </a:r>
          </a:p>
          <a:p>
            <a:pPr>
              <a:spcAft>
                <a:spcPts val="800"/>
              </a:spcAft>
              <a:defRPr sz="1500" b="1">
                <a:solidFill>
                  <a:srgbClr val="2D3436"/>
                </a:solidFill>
              </a:defRPr>
            </a:pPr>
            <a:r>
              <a:t>Level 2 — Backend MILP.</a:t>
            </a:r>
          </a:p>
          <a:p>
            <a:pPr>
              <a:spcAft>
                <a:spcPts val="800"/>
              </a:spcAft>
              <a:defRPr sz="1500" b="0">
                <a:solidFill>
                  <a:srgbClr val="2D3436"/>
                </a:solidFill>
              </a:defRPr>
            </a:pPr>
            <a:r>
              <a:t>Distributes the received goal across individual devices. Respects per-device SoC, battery limits, prosumer preferences. Translates to OpenADR events.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3891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2D3436"/>
                </a:solidFill>
              </a:defRPr>
            </a:pPr>
            <a:r>
              <a:t>Why two levels.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8463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D3436"/>
                </a:solidFill>
              </a:rPr>
              <a:t>Privacy. </a:t>
            </a:r>
            <a:r>
              <a:rPr sz="1500">
                <a:solidFill>
                  <a:srgbClr val="2D3436"/>
                </a:solidFill>
              </a:rPr>
              <a:t>The aggregator never sees per-device data.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D3436"/>
                </a:solidFill>
              </a:rPr>
              <a:t>Scalability. </a:t>
            </a:r>
            <a:r>
              <a:rPr sz="1500">
                <a:solidFill>
                  <a:srgbClr val="2D3436"/>
                </a:solidFill>
              </a:rPr>
              <a:t>Solving for N backends, not N × M devices.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D3436"/>
                </a:solidFill>
              </a:rPr>
              <a:t>Autonomy. </a:t>
            </a:r>
            <a:r>
              <a:rPr sz="1500">
                <a:solidFill>
                  <a:srgbClr val="2D3436"/>
                </a:solidFill>
              </a:rPr>
              <a:t>Each manufacturer optimizes their own devices.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0" cy="109728"/>
          </a:xfrm>
          <a:prstGeom prst="rect">
            <a:avLst/>
          </a:prstGeom>
          <a:solidFill>
            <a:srgbClr val="C87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DFE6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36E72"/>
                </a:solidFill>
              </a:defRPr>
            </a:pPr>
            <a:r>
              <a:t>KERN by Riddle&amp;Code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640080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36E72"/>
                </a:solidFill>
              </a:defRPr>
            </a:pPr>
            <a:r>
              <a:t>TEB AI Hackathon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16975" y="64008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36E72"/>
                </a:solidFill>
              </a:defRPr>
            </a:pPr>
            <a: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D3436"/>
                </a:solidFill>
              </a:defRPr>
            </a:pPr>
            <a:r>
              <a:t>Prosumer sovereignty.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234440"/>
            <a:ext cx="3200400" cy="38100"/>
          </a:xfrm>
          <a:prstGeom prst="rect">
            <a:avLst/>
          </a:prstGeom>
          <a:solidFill>
            <a:srgbClr val="C87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544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2D3436"/>
                </a:solidFill>
              </a:defRPr>
            </a:pPr>
            <a:r>
              <a:t>The device has the last word. Always.</a:t>
            </a:r>
          </a:p>
          <a:p>
            <a:pPr>
              <a:spcAft>
                <a:spcPts val="800"/>
              </a:spcAft>
              <a:defRPr sz="1700" b="0">
                <a:solidFill>
                  <a:srgbClr val="2D3436"/>
                </a:solidFill>
              </a:defRPr>
            </a:pPr>
            <a:r>
              <a:t>The aggregator sends a soft flex-request with bounds. Each HEMS device evaluates locally — SoC, hardware limits, prosumer preferences — and opts in or opts out. OpenADR native.</a:t>
            </a:r>
          </a:p>
          <a:p>
            <a:pPr>
              <a:spcAft>
                <a:spcPts val="800"/>
              </a:spcAft>
              <a:defRPr sz="1700" b="0">
                <a:solidFill>
                  <a:srgbClr val="2D3436"/>
                </a:solidFill>
              </a:defRPr>
            </a:pPr>
            <a:r>
              <a:t>Every failure mode defaults to normal prosumer operation. No persistent standing orders. The aggregator must actively request and actively release.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4754880"/>
            <a:ext cx="76196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i="1">
                <a:solidFill>
                  <a:srgbClr val="636E72"/>
                </a:solidFill>
              </a:defRPr>
            </a:pPr>
            <a:r>
              <a:t>The HEMS device is the trust boundary.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0" cy="109728"/>
          </a:xfrm>
          <a:prstGeom prst="rect">
            <a:avLst/>
          </a:prstGeom>
          <a:solidFill>
            <a:srgbClr val="C87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DFE6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36E72"/>
                </a:solidFill>
              </a:defRPr>
            </a:pPr>
            <a:r>
              <a:t>KERN by Riddle&amp;Code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640080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36E72"/>
                </a:solidFill>
              </a:defRPr>
            </a:pPr>
            <a:r>
              <a:t>TEB AI Hackathon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16975" y="64008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36E72"/>
                </a:solidFill>
              </a:defRPr>
            </a:pPr>
            <a: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D3436"/>
                </a:solidFill>
              </a:defRPr>
            </a:pPr>
            <a:r>
              <a:t>Market reach.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234440"/>
            <a:ext cx="3200400" cy="38100"/>
          </a:xfrm>
          <a:prstGeom prst="rect">
            <a:avLst/>
          </a:prstGeom>
          <a:solidFill>
            <a:srgbClr val="C87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544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D3436"/>
                </a:solidFill>
              </a:defRPr>
            </a:pPr>
            <a:r>
              <a:t>The same protocol stack serves all Tier 2 and Tier 3 markets.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31520" y="2103120"/>
          <a:ext cx="105156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743200"/>
                <a:gridCol w="3657600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D3436"/>
                          </a:solidFill>
                        </a:defRPr>
                      </a:pPr>
                      <a:r>
                        <a:t>Market</a:t>
                      </a:r>
                    </a:p>
                  </a:txBody>
                  <a:tcPr>
                    <a:solidFill>
                      <a:srgbClr val="F5F5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D3436"/>
                          </a:solidFill>
                        </a:defRPr>
                      </a:pPr>
                      <a:r>
                        <a:t>Response time</a:t>
                      </a:r>
                    </a:p>
                  </a:txBody>
                  <a:tcPr>
                    <a:solidFill>
                      <a:srgbClr val="F5F5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D3436"/>
                          </a:solidFill>
                        </a:defRPr>
                      </a:pPr>
                      <a:r>
                        <a:t>Fit</a:t>
                      </a:r>
                    </a:p>
                  </a:txBody>
                  <a:tcPr>
                    <a:solidFill>
                      <a:srgbClr val="F5F5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3436"/>
                          </a:solidFill>
                        </a:defRPr>
                      </a:pPr>
                      <a:r>
                        <a:t>mFRR (tertiary balancing)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3436"/>
                          </a:solidFill>
                        </a:defRPr>
                      </a:pPr>
                      <a:r>
                        <a:t>12.5 min FAT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3436"/>
                          </a:solidFill>
                        </a:defRPr>
                      </a:pPr>
                      <a:r>
                        <a:t>Primary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3436"/>
                          </a:solidFill>
                        </a:defRPr>
                      </a:pPr>
                      <a:r>
                        <a:t>Congestion management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3436"/>
                          </a:solidFill>
                        </a:defRPr>
                      </a:pPr>
                      <a:r>
                        <a:t>Minutes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3436"/>
                          </a:solidFill>
                        </a:defRPr>
                      </a:pPr>
                      <a:r>
                        <a:t>Primary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3436"/>
                          </a:solidFill>
                        </a:defRPr>
                      </a:pPr>
                      <a:r>
                        <a:t>Non-frequency ancillary services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3436"/>
                          </a:solidFill>
                        </a:defRPr>
                      </a:pPr>
                      <a:r>
                        <a:t>Minutes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3436"/>
                          </a:solidFill>
                        </a:defRPr>
                      </a:pPr>
                      <a:r>
                        <a:t>Primary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3436"/>
                          </a:solidFill>
                        </a:defRPr>
                      </a:pPr>
                      <a:r>
                        <a:t>Intraday / day-ahead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3436"/>
                          </a:solidFill>
                        </a:defRPr>
                      </a:pPr>
                      <a:r>
                        <a:t>Minutes to hours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3436"/>
                          </a:solidFill>
                        </a:defRPr>
                      </a:pPr>
                      <a:r>
                        <a:t>Reachable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3436"/>
                          </a:solidFill>
                        </a:defRPr>
                      </a:pPr>
                      <a:r>
                        <a:t>Local flex markets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3436"/>
                          </a:solidFill>
                        </a:defRPr>
                      </a:pPr>
                      <a:r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3436"/>
                          </a:solidFill>
                        </a:defRPr>
                      </a:pPr>
                      <a:r>
                        <a:t>Reachable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3436"/>
                          </a:solidFill>
                        </a:defRPr>
                      </a:pPr>
                      <a:r>
                        <a:t>Dynamic tariff 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3436"/>
                          </a:solidFill>
                        </a:defRPr>
                      </a:pPr>
                      <a:r>
                        <a:t>Hours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3436"/>
                          </a:solidFill>
                        </a:defRPr>
                      </a:pPr>
                      <a:r>
                        <a:t>Reachable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31520" y="53035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D3436"/>
                </a:solidFill>
              </a:defRPr>
            </a:pPr>
            <a:r>
              <a:t>Out of scope. Tier 1 (FCR, aFRR) requires SCADA/PLC hardware with sub-second control loops. Different architecture. Different stack.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0" cy="109728"/>
          </a:xfrm>
          <a:prstGeom prst="rect">
            <a:avLst/>
          </a:prstGeom>
          <a:solidFill>
            <a:srgbClr val="C87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DFE6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36E72"/>
                </a:solidFill>
              </a:defRPr>
            </a:pPr>
            <a:r>
              <a:t>KERN by Riddle&amp;Code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640080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36E72"/>
                </a:solidFill>
              </a:defRPr>
            </a:pPr>
            <a:r>
              <a:t>TEB AI Hackathon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16975" y="64008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36E72"/>
                </a:solidFill>
              </a:defRPr>
            </a:pPr>
            <a: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D3436"/>
                </a:solidFill>
              </a:defRPr>
            </a:pPr>
            <a:r>
              <a:t>The demo.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234440"/>
            <a:ext cx="3200400" cy="38100"/>
          </a:xfrm>
          <a:prstGeom prst="rect">
            <a:avLst/>
          </a:prstGeom>
          <a:solidFill>
            <a:srgbClr val="C87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544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2D3436"/>
                </a:solidFill>
              </a:defRPr>
            </a:pPr>
            <a:r>
              <a:t>Live simulation of the full Observe → Plan → Dispatch → Settle cycle.</a:t>
            </a:r>
          </a:p>
          <a:p>
            <a:pPr>
              <a:spcAft>
                <a:spcPts val="800"/>
              </a:spcAft>
              <a:defRPr sz="1600" b="0">
                <a:solidFill>
                  <a:srgbClr val="2D3436"/>
                </a:solidFill>
              </a:defRPr>
            </a:pPr>
            <a:r>
              <a:t>Three simulated HEMS backends: kern-01 (47 residential), solar-02 (12 commercial), flex-03 (25 mixed).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31520" y="2926080"/>
          <a:ext cx="105156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5943600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D3436"/>
                          </a:solidFill>
                        </a:defRPr>
                      </a:pPr>
                      <a:r>
                        <a:t>Component</a:t>
                      </a:r>
                    </a:p>
                  </a:txBody>
                  <a:tcPr>
                    <a:solidFill>
                      <a:srgbClr val="F5F5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D3436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F5F5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3436"/>
                          </a:solidFill>
                        </a:defRPr>
                      </a:pPr>
                      <a:r>
                        <a:t>MQTT broker + message 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3436"/>
                          </a:solidFill>
                        </a:defRPr>
                      </a:pPr>
                      <a:r>
                        <a:t>Real — live Mosquitto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3436"/>
                          </a:solidFill>
                        </a:defRPr>
                      </a:pPr>
                      <a:r>
                        <a:t>Aggregator MILP (portfolio)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3436"/>
                          </a:solidFill>
                        </a:defRPr>
                      </a:pPr>
                      <a:r>
                        <a:t>Real — PuLP + HiGHS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3436"/>
                          </a:solidFill>
                        </a:defRPr>
                      </a:pPr>
                      <a:r>
                        <a:t>Backend MILP (per-device)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3436"/>
                          </a:solidFill>
                        </a:defRPr>
                      </a:pPr>
                      <a:r>
                        <a:t>Real — PuLP + HiGHS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3436"/>
                          </a:solidFill>
                        </a:defRPr>
                      </a:pPr>
                      <a:r>
                        <a:t>Browser dashboard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3436"/>
                          </a:solidFill>
                        </a:defRPr>
                      </a:pPr>
                      <a:r>
                        <a:t>Real — Chart.js + MQTT websockets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3436"/>
                          </a:solidFill>
                        </a:defRPr>
                      </a:pPr>
                      <a:r>
                        <a:t>Device state, OpenADR exchanges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3436"/>
                          </a:solidFill>
                        </a:defRPr>
                      </a:pPr>
                      <a:r>
                        <a:t>Simulated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31520" y="53035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2D3436"/>
                </a:solidFill>
              </a:defRPr>
            </a:pPr>
            <a:r>
              <a:t>docker compose up --build  then open  dashboard.html</a:t>
            </a:r>
          </a:p>
          <a:p>
            <a:pPr>
              <a:spcAft>
                <a:spcPts val="800"/>
              </a:spcAft>
              <a:defRPr sz="1400" b="0">
                <a:solidFill>
                  <a:srgbClr val="2D3436"/>
                </a:solidFill>
              </a:defRPr>
            </a:pPr>
            <a:r>
              <a:t>Or:  python3 run_demo.py  — 50-second terminal walkthrough.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0" cy="109728"/>
          </a:xfrm>
          <a:prstGeom prst="rect">
            <a:avLst/>
          </a:prstGeom>
          <a:solidFill>
            <a:srgbClr val="C87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DFE6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36E72"/>
                </a:solidFill>
              </a:defRPr>
            </a:pPr>
            <a:r>
              <a:t>KERN by Riddle&amp;Code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640080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36E72"/>
                </a:solidFill>
              </a:defRPr>
            </a:pPr>
            <a:r>
              <a:t>TEB AI Hackathon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16975" y="64008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36E72"/>
                </a:solidFill>
              </a:defRPr>
            </a:pPr>
            <a: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D3436"/>
                </a:solidFill>
              </a:defRPr>
            </a:pPr>
            <a:r>
              <a:t>What we delivered.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234440"/>
            <a:ext cx="3200400" cy="38100"/>
          </a:xfrm>
          <a:prstGeom prst="rect">
            <a:avLst/>
          </a:prstGeom>
          <a:solidFill>
            <a:srgbClr val="C87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544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2D3436"/>
                </a:solidFill>
              </a:defRPr>
            </a:pPr>
            <a:r>
              <a:t>Interoperability profile — 7 documents, IES methodology: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031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2D3436"/>
                </a:solidFill>
              </a:rPr>
              <a:t>1. </a:t>
            </a:r>
            <a:r>
              <a:rPr sz="1400">
                <a:solidFill>
                  <a:srgbClr val="2D3436"/>
                </a:solidFill>
              </a:rPr>
              <a:t>Use case — business context, triggers, serviceable markets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D3436"/>
                </a:solidFill>
              </a:rPr>
              <a:t>2. </a:t>
            </a:r>
            <a:r>
              <a:rPr sz="1400">
                <a:solidFill>
                  <a:srgbClr val="2D3436"/>
                </a:solidFill>
              </a:rPr>
              <a:t>Actors &amp; roles — aggregator-centric Austrian model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D3436"/>
                </a:solidFill>
              </a:rPr>
              <a:t>3. </a:t>
            </a:r>
            <a:r>
              <a:rPr sz="1400">
                <a:solidFill>
                  <a:srgbClr val="2D3436"/>
                </a:solidFill>
              </a:rPr>
              <a:t>Process flow — four-phase loop, sequence diagrams, edge cases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D3436"/>
                </a:solidFill>
              </a:rPr>
              <a:t>4. </a:t>
            </a:r>
            <a:r>
              <a:rPr sz="1400">
                <a:solidFill>
                  <a:srgbClr val="2D3436"/>
                </a:solidFill>
              </a:rPr>
              <a:t>Information model — message types, OpenADR 2.0b + 3.1 mappings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D3436"/>
                </a:solidFill>
              </a:rPr>
              <a:t>5. </a:t>
            </a:r>
            <a:r>
              <a:rPr sz="1400">
                <a:solidFill>
                  <a:srgbClr val="2D3436"/>
                </a:solidFill>
              </a:rPr>
              <a:t>Communication — MQTT topic structure, QoS, security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D3436"/>
                </a:solidFill>
              </a:rPr>
              <a:t>6. </a:t>
            </a:r>
            <a:r>
              <a:rPr sz="1400">
                <a:solidFill>
                  <a:srgbClr val="2D3436"/>
                </a:solidFill>
              </a:rPr>
              <a:t>Design decisions — 15 decisions with rationale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D3436"/>
                </a:solidFill>
              </a:rPr>
              <a:t>7. </a:t>
            </a:r>
            <a:r>
              <a:rPr sz="1400">
                <a:solidFill>
                  <a:srgbClr val="2D3436"/>
                </a:solidFill>
              </a:rPr>
              <a:t>AT vs. DE comparison — Austrian model vs. German SMGW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D3436"/>
                </a:solidFill>
              </a:defRPr>
            </a:pPr>
            <a:r>
              <a:t>Aggregator interface spec — TypeScript types, MILP formulation, aggregation rules.</a:t>
            </a:r>
          </a:p>
          <a:p>
            <a:pPr>
              <a:spcAft>
                <a:spcPts val="800"/>
              </a:spcAft>
              <a:defRPr sz="1500" b="1">
                <a:solidFill>
                  <a:srgbClr val="2D3436"/>
                </a:solidFill>
              </a:defRPr>
            </a:pPr>
            <a:r>
              <a:t>Working demo — full dispatch cycle with real optimization.</a:t>
            </a:r>
          </a:p>
          <a:p>
            <a:pPr>
              <a:spcAft>
                <a:spcPts val="800"/>
              </a:spcAft>
              <a:defRPr sz="1500" b="1">
                <a:solidFill>
                  <a:srgbClr val="2D3436"/>
                </a:solidFill>
              </a:defRPr>
            </a:pPr>
            <a:r>
              <a:t>OpenADR 3.1 reference VEN — validated against a real VTN.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0" cy="109728"/>
          </a:xfrm>
          <a:prstGeom prst="rect">
            <a:avLst/>
          </a:prstGeom>
          <a:solidFill>
            <a:srgbClr val="C87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DFE6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36E72"/>
                </a:solidFill>
              </a:defRPr>
            </a:pPr>
            <a:r>
              <a:t>KERN by Riddle&amp;Code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640080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36E72"/>
                </a:solidFill>
              </a:defRPr>
            </a:pPr>
            <a:r>
              <a:t>TEB AI Hackathon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16975" y="64008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36E72"/>
                </a:solidFill>
              </a:defRPr>
            </a:pPr>
            <a: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D3436"/>
                </a:solidFill>
              </a:defRPr>
            </a:pPr>
            <a:r>
              <a:t>Five things to remember.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234440"/>
            <a:ext cx="3200400" cy="38100"/>
          </a:xfrm>
          <a:prstGeom prst="rect">
            <a:avLst/>
          </a:prstGeom>
          <a:solidFill>
            <a:srgbClr val="C87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D3436"/>
                </a:solidFill>
              </a:rPr>
              <a:t>1. The interface is the product.</a:t>
            </a:r>
          </a:p>
          <a:p>
            <a:pPr>
              <a:spcAft>
                <a:spcPts val="400"/>
              </a:spcAft>
              <a:defRPr sz="1500">
                <a:solidFill>
                  <a:srgbClr val="2D3436"/>
                </a:solidFill>
              </a:defRPr>
            </a:pPr>
            <a:r>
              <a:t>Standardize the boundary between aggregator and HEMS backends. The rest follows.</a:t>
            </a:r>
          </a:p>
          <a:p>
            <a:pPr>
              <a:spcBef>
                <a:spcPts val="1200"/>
              </a:spcBef>
            </a:pPr>
            <a:r>
              <a:rPr sz="1700" b="1">
                <a:solidFill>
                  <a:srgbClr val="2D3436"/>
                </a:solidFill>
              </a:rPr>
              <a:t>2. Two protocols, one clean boundary.</a:t>
            </a:r>
          </a:p>
          <a:p>
            <a:pPr>
              <a:spcAft>
                <a:spcPts val="400"/>
              </a:spcAft>
              <a:defRPr sz="1500">
                <a:solidFill>
                  <a:srgbClr val="2D3436"/>
                </a:solidFill>
              </a:defRPr>
            </a:pPr>
            <a:r>
              <a:t>MQTT for fleet coordination. OpenADR for device control. The HEMS Backend bridges them.</a:t>
            </a:r>
          </a:p>
          <a:p>
            <a:pPr>
              <a:spcBef>
                <a:spcPts val="1200"/>
              </a:spcBef>
            </a:pPr>
            <a:r>
              <a:rPr sz="1700" b="1">
                <a:solidFill>
                  <a:srgbClr val="2D3436"/>
                </a:solidFill>
              </a:rPr>
              <a:t>3. Two-level MILP preserves privacy at scale.</a:t>
            </a:r>
          </a:p>
          <a:p>
            <a:pPr>
              <a:spcAft>
                <a:spcPts val="400"/>
              </a:spcAft>
              <a:defRPr sz="1500">
                <a:solidFill>
                  <a:srgbClr val="2D3436"/>
                </a:solidFill>
              </a:defRPr>
            </a:pPr>
            <a:r>
              <a:t>The aggregator optimizes across backends without seeing individual devices.</a:t>
            </a:r>
          </a:p>
          <a:p>
            <a:pPr>
              <a:spcBef>
                <a:spcPts val="1200"/>
              </a:spcBef>
            </a:pPr>
            <a:r>
              <a:rPr sz="1700" b="1">
                <a:solidFill>
                  <a:srgbClr val="2D3436"/>
                </a:solidFill>
              </a:rPr>
              <a:t>4. Prosumer sovereignty is non-negotiable.</a:t>
            </a:r>
          </a:p>
          <a:p>
            <a:pPr>
              <a:spcAft>
                <a:spcPts val="400"/>
              </a:spcAft>
              <a:defRPr sz="1500">
                <a:solidFill>
                  <a:srgbClr val="2D3436"/>
                </a:solidFill>
              </a:defRPr>
            </a:pPr>
            <a:r>
              <a:t>Soft signals. Local device autonomy. Fail-safe to normal operation.</a:t>
            </a:r>
          </a:p>
          <a:p>
            <a:pPr>
              <a:spcBef>
                <a:spcPts val="1200"/>
              </a:spcBef>
            </a:pPr>
            <a:r>
              <a:rPr sz="1700" b="1">
                <a:solidFill>
                  <a:srgbClr val="2D3436"/>
                </a:solidFill>
              </a:rPr>
              <a:t>5. One dispatch cycle, many markets.</a:t>
            </a:r>
          </a:p>
          <a:p>
            <a:pPr>
              <a:spcAft>
                <a:spcPts val="400"/>
              </a:spcAft>
              <a:defRPr sz="1500">
                <a:solidFill>
                  <a:srgbClr val="2D3436"/>
                </a:solidFill>
              </a:defRPr>
            </a:pPr>
            <a:r>
              <a:t>mFRR, congestion, intraday, flex markets — same message flow, different trigger.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0" cy="109728"/>
          </a:xfrm>
          <a:prstGeom prst="rect">
            <a:avLst/>
          </a:prstGeom>
          <a:solidFill>
            <a:srgbClr val="C87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DFE6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36E72"/>
                </a:solidFill>
              </a:defRPr>
            </a:pPr>
            <a:r>
              <a:t>KERN by Riddle&amp;Code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640080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36E72"/>
                </a:solidFill>
              </a:defRPr>
            </a:pPr>
            <a:r>
              <a:t>TEB AI Hackathon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16975" y="64008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36E72"/>
                </a:solidFill>
              </a:defRPr>
            </a:pPr>
            <a:r>
              <a:t>12</a:t>
            </a:r>
          </a:p>
        </p:txBody>
      </p:sp>
      <p:pic>
        <p:nvPicPr>
          <p:cNvPr id="7" name="Picture 6" descr="ke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371600"/>
            <a:ext cx="3383280" cy="98422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2926080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2D3436"/>
                </a:solidFill>
              </a:defRPr>
            </a:pPr>
            <a:r>
              <a:t>Riddle&amp;Code GmbH — Vienna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3657600"/>
            <a:ext cx="7619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2D3436"/>
                </a:solidFill>
              </a:rPr>
              <a:t>Jürgen Eckel  </a:t>
            </a:r>
            <a:r>
              <a:rPr sz="1400">
                <a:solidFill>
                  <a:srgbClr val="636E72"/>
                </a:solidFill>
              </a:rPr>
              <a:t>CEO — Profile design, demo, aggregator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4114800"/>
            <a:ext cx="7619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2D3436"/>
                </a:solidFill>
              </a:rPr>
              <a:t>Thomas Fürstner  </a:t>
            </a:r>
            <a:r>
              <a:rPr sz="1400">
                <a:solidFill>
                  <a:srgbClr val="636E72"/>
                </a:solidFill>
              </a:rPr>
              <a:t>CTO — OpenADR 3.1 VEN reference implementation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93776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636E72"/>
                </a:solidFill>
              </a:defRPr>
            </a:pPr>
            <a:r>
              <a:t>github.com/RiddleAndCode/grid-serving-storage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30352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636E72"/>
                </a:solidFill>
              </a:defRPr>
            </a:pPr>
            <a:r>
              <a:t>juergen@riddleandcode.com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9436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i="1">
                <a:solidFill>
                  <a:srgbClr val="C87533"/>
                </a:solidFill>
              </a:defRPr>
            </a:pPr>
            <a:r>
              <a:t>Infrastructure for distributed energy.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